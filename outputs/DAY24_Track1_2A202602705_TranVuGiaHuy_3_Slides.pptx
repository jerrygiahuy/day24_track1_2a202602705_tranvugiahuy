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ce7643da44f68" /><Relationship Type="http://schemas.openxmlformats.org/officeDocument/2006/relationships/extended-properties" Target="/docProps/app.xml" Id="R4fe90970feec436f" /><Relationship Type="http://schemas.openxmlformats.org/officeDocument/2006/relationships/officeDocument" Target="/ppt/presentation.xml" Id="Ra8f14d0f4195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8d06633e044da1"/>
  </p:sldMasterIdLst>
  <p:notesMasterIdLst>
    <p:notesMasterId xmlns:r="http://schemas.openxmlformats.org/officeDocument/2006/relationships" r:id="R253211f146fc43d4"/>
  </p:notesMasterIdLst>
  <p:sldIdLst>
    <p:sldId xmlns:r="http://schemas.openxmlformats.org/officeDocument/2006/relationships" id="256" r:id="R278e2129863a44f9"/>
    <p:sldId xmlns:r="http://schemas.openxmlformats.org/officeDocument/2006/relationships" id="257" r:id="R10b44b54adce4aa0"/>
    <p:sldId xmlns:r="http://schemas.openxmlformats.org/officeDocument/2006/relationships" id="258" r:id="R1badf404713f4c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fff071133943c2" /><Relationship Type="http://schemas.openxmlformats.org/officeDocument/2006/relationships/slideMaster" Target="/ppt/slideMasters/slideMaster1.xml" Id="R2c8d06633e044da1" /><Relationship Type="http://schemas.openxmlformats.org/officeDocument/2006/relationships/notesMaster" Target="/ppt/notesMasters/notesMaster1.xml" Id="R253211f146fc43d4" /><Relationship Type="http://schemas.openxmlformats.org/officeDocument/2006/relationships/presProps" Target="/ppt/presProps.xml" Id="R68e6d59f3a674dd2" /><Relationship Type="http://schemas.openxmlformats.org/officeDocument/2006/relationships/tableStyles" Target="/ppt/tableStyles.xml" Id="R81b27265a1134cfb" /><Relationship Type="http://schemas.openxmlformats.org/officeDocument/2006/relationships/slide" Target="/ppt/slides/slide1.xml" Id="R278e2129863a44f9" /><Relationship Type="http://schemas.openxmlformats.org/officeDocument/2006/relationships/slide" Target="/ppt/slides/slide2.xml" Id="R10b44b54adce4aa0" /><Relationship Type="http://schemas.openxmlformats.org/officeDocument/2006/relationships/slide" Target="/ppt/slides/slide3.xml" Id="R1badf404713f4c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d3929ca542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9bc52d84de43a5" /><Relationship Type="http://schemas.openxmlformats.org/officeDocument/2006/relationships/notesMaster" Target="/ppt/notesMasters/notesMaster1.xml" Id="Ra2b26cc6b9d8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5f4c931af4013" /><Relationship Type="http://schemas.openxmlformats.org/officeDocument/2006/relationships/notesMaster" Target="/ppt/notesMasters/notesMaster1.xml" Id="Rb2b4dbc74da8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6f17f7a4a4c85" /><Relationship Type="http://schemas.openxmlformats.org/officeDocument/2006/relationships/notesMaster" Target="/ppt/notesMasters/notesMaster1.xml" Id="Re38350595dcc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11ec288c441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5d5a8964f4f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c95fb04df4d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71b4672d04b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976352c2f4e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ab8145ea1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E20DA-2E50-45FA-9855-5AF1BC9B8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415586-1355-4FDF-A50D-22901FD834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AFB249-A29D-45C8-9A84-BD4F970A1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3A39C0-43C1-42B4-AE92-1AA316065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65665E-2747-45E0-92E4-21301786F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AE1E2A-5E65-4C49-8FD6-B6A99EC9A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FAE0C2-1BDE-4C96-817D-98EAFCC3B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CFA57A-0E49-4853-82E5-26572ABC11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5BAF6E-0015-4896-8C01-2DE9870E1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45624D-CA1C-4B83-A4FB-13BAF9DBF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dfb70d5a14c0a" /><Relationship Type="http://schemas.openxmlformats.org/officeDocument/2006/relationships/slideLayout" Target="/ppt/slideLayouts/slideLayout1.xml" Id="R5192d0f0c3b14f1f" /><Relationship Type="http://schemas.openxmlformats.org/officeDocument/2006/relationships/slideLayout" Target="/ppt/slideLayouts/slideLayout2.xml" Id="R455a6cda960d462e" /><Relationship Type="http://schemas.openxmlformats.org/officeDocument/2006/relationships/slideLayout" Target="/ppt/slideLayouts/slideLayout3.xml" Id="R9f49d6cf38034608" /><Relationship Type="http://schemas.openxmlformats.org/officeDocument/2006/relationships/slideLayout" Target="/ppt/slideLayouts/slideLayout4.xml" Id="R53b1a73722fc4aef" /><Relationship Type="http://schemas.openxmlformats.org/officeDocument/2006/relationships/slideLayout" Target="/ppt/slideLayouts/slideLayout5.xml" Id="R208566119b784353" /><Relationship Type="http://schemas.openxmlformats.org/officeDocument/2006/relationships/slideLayout" Target="/ppt/slideLayouts/slideLayout6.xml" Id="Rdd7c6927f101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92d0f0c3b14f1f"/>
    <p:sldLayoutId xmlns:r="http://schemas.openxmlformats.org/officeDocument/2006/relationships" id="2147483650" r:id="R455a6cda960d462e"/>
    <p:sldLayoutId xmlns:r="http://schemas.openxmlformats.org/officeDocument/2006/relationships" id="2147483651" r:id="R9f49d6cf38034608"/>
    <p:sldLayoutId xmlns:r="http://schemas.openxmlformats.org/officeDocument/2006/relationships" id="2147483652" r:id="R53b1a73722fc4aef"/>
    <p:sldLayoutId xmlns:r="http://schemas.openxmlformats.org/officeDocument/2006/relationships" id="2147483653" r:id="R208566119b784353"/>
    <p:sldLayoutId xmlns:r="http://schemas.openxmlformats.org/officeDocument/2006/relationships" id="2147483654" r:id="Rdd7c6927f10149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f1873ce3d4e3c" /><Relationship Type="http://schemas.openxmlformats.org/officeDocument/2006/relationships/notesSlide" Target="/ppt/notesSlides/notesSlide1.xml" Id="R1a7d54835c53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827a5ed3d4573" /><Relationship Type="http://schemas.openxmlformats.org/officeDocument/2006/relationships/chart" Target="/ppt/slides/charts/chart1.xml" Id="R4160909e661145d2" /><Relationship Type="http://schemas.openxmlformats.org/officeDocument/2006/relationships/notesSlide" Target="/ppt/notesSlides/notesSlide2.xml" Id="Rb6351374cb55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f4ccff85748d5" /><Relationship Type="http://schemas.openxmlformats.org/officeDocument/2006/relationships/chart" Target="/ppt/slides/charts/chart2.xml" Id="R9ecab9d021304af1" /><Relationship Type="http://schemas.openxmlformats.org/officeDocument/2006/relationships/notesSlide" Target="/ppt/notesSlides/notesSlide3.xml" Id="R7f8b0882fe694a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NPV 24 tháng, triệu đồng</c:v>
          </c:tx>
          <c:spPr>
            <a:solidFill xmlns:a="http://schemas.openxmlformats.org/drawingml/2006/main">
              <a:srgbClr val="2F75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Lạc quan</c:v>
                </c:pt>
                <c:pt idx="1">
                  <c:v>Cơ sở</c:v>
                </c:pt>
                <c:pt idx="2">
                  <c:v>Xấu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677.1</c:v>
                </c:pt>
                <c:pt idx="1">
                  <c:v>31.5</c:v>
                </c:pt>
                <c:pt idx="2">
                  <c:v>-383.8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F29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Chênh lệch NPV</c:v>
          </c:tx>
          <c:spPr>
            <a:solidFill xmlns:a="http://schemas.openxmlformats.org/drawingml/2006/main">
              <a:srgbClr val="ED7D31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Doanh thu</c:v>
                </c:pt>
                <c:pt idx="1">
                  <c:v>Khách mới T1</c:v>
                </c:pt>
                <c:pt idx="2">
                  <c:v>Chi phí cố định</c:v>
                </c:pt>
                <c:pt idx="3">
                  <c:v>Tăng trưởng</c:v>
                </c:pt>
                <c:pt idx="4">
                  <c:v>Chi phí AI</c:v>
                </c:pt>
                <c:pt idx="5">
                  <c:v>Churn</c:v>
                </c:pt>
                <c:pt idx="6">
                  <c:v>CAC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-129.4</c:v>
                </c:pt>
                <c:pt idx="1">
                  <c:v>-78.6</c:v>
                </c:pt>
                <c:pt idx="2">
                  <c:v>-61.9</c:v>
                </c:pt>
                <c:pt idx="3">
                  <c:v>-31.9</c:v>
                </c:pt>
                <c:pt idx="4">
                  <c:v>-27.5</c:v>
                </c:pt>
                <c:pt idx="5">
                  <c:v>-27.2</c:v>
                </c:pt>
                <c:pt idx="6">
                  <c:v>-23.3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F29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3740C-DB8C-45C7-865C-ABE960F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AI NOTES OPTION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A301C-F0B2-455F-8894-38C0C8F8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Đề xuất thử nghiệm nhỏ trong 90 ngày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695C2-94C5-4F1C-9494-E70F5914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Giá 208.560 đồng mỗi tài khoản mỗi tháng, gồm 12 note đã lưu. Note vượt hạn mức thu 15.000 đồng.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D4320-043A-4ACB-9AB5-445F116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31,5 triệu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FE8B5-7CFB-4F86-8F38-D69962B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B7280"/>
                </a:solidFill>
                <a:latin typeface="Arial"/>
                <a:ea typeface="Arial"/>
                <a:cs typeface="Arial"/>
              </a:rPr>
              <a:t>NPV cơ sở trong 24 tháng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93B5B-CFF5-4BE9-BB1D-B1FA120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10 khách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7792C-1447-4AEA-8566-24C7F45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B7280"/>
                </a:solidFill>
                <a:latin typeface="Arial"/>
                <a:ea typeface="Arial"/>
                <a:cs typeface="Arial"/>
              </a:rPr>
              <a:t>Mục tiêu trả tiền ở tháng đầu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00D4E-AA3A-4272-BB30-8114CFF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Tháng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8F58B-DD0E-4138-8075-AAC6268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B7280"/>
                </a:solidFill>
                <a:latin typeface="Arial"/>
                <a:ea typeface="Arial"/>
                <a:cs typeface="Arial"/>
              </a:rPr>
              <a:t>Kịch bản xấu hết tiền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20BB2-6841-4371-BEA3-64276EE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14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Điều kiện mở rộng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8B996-1EC4-4EB4-9AAA-A138F084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16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F2937"/>
                </a:solidFill>
                <a:latin typeface="Arial"/>
                <a:ea typeface="Arial"/>
                <a:cs typeface="Arial"/>
              </a:rPr>
              <a:t>Hai cohort liên tiếp đạt doanh thu bình quân từ 226.952 đồng/khách, CAC không quá 397.535 đồng và churn được đo từ khách trả tiền.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249D1-E34A-4A2B-BE31-6E0A892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Chưa có bằng chứng WTP. Pilot phải thu tiền thật trước khi tăng ngân sách.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176C0-A334-4552-AD4E-3A5CE80D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Nguồn: sheet 2, sheet 5 dòng 44–48 và sheet 7 câu 1–2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AFCE1-BA2E-450F-A7AC-C03A5677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506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69477-EE18-469A-BA5C-E82D0DC6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Kinh tế mỗi khách tốt, dòng tiền vẫn thiếu trước khi hoàn vốn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34B64-EB21-439B-BD77-796FC46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3.626 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F451D-C546-4ABD-A7A8-4BF807C3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Chi phí mỗi note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11F61-73A8-42D6-B667-E87549AC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33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78,7%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0B89F-6815-4CFB-8B02-D7B4D31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Biên gộp cơ sở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A6D5C-DE7E-426E-B8FD-77A0DAD1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12,0 lần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28AC-20CD-4679-B7F9-086CAEA3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LTV chia CAC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48C33-6E42-4310-895A-8D4E465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33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1,7 tháng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CB9C2-0369-4659-833D-84A2CF3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Hoàn vốn CAC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5FA388A-03C6-4CDB-AB23-ED72A3E6928A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60909e661145d2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DAAB6-8B09-4DC1-9F59-5CBC3934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Khoảng trống tiền mặt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4234A-CEE4-494D-9A5E-CD4EDA0D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314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7"/>
                </a:solidFill>
                <a:latin typeface="Arial"/>
                <a:ea typeface="Arial"/>
                <a:cs typeface="Arial"/>
              </a:rPr>
              <a:t>Cơ sở hết tiền ở tháng 4 nhưng hoàn vốn dự án ở tháng 22. Kịch bản xấu hết tiền ở tháng 1 và chưa hoàn vốn trong 24 tháng.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4B633-BD9A-4CA7-820E-70E7C6C6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Quyết định: giới hạn quy mô pilot và khóa chi phí cố định trước khi tăng acquisition.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C95EA-161D-4E89-9EE0-FDA6100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Nguồn: sheet 1 dòng 24, sheet 4 dòng 5–13, sheet 5 dòng 44–50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F5D5-E82B-4CDF-81D3-F15496F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7344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B8D24-80FA-4B53-9F74-B84A1A2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Doanh thu bình quân là rủi ro lớn nhất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3C76C-1E90-4C6A-B5C5-BEF72D1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B7280"/>
                </a:solidFill>
                <a:latin typeface="Arial"/>
                <a:ea typeface="Arial"/>
                <a:cs typeface="Arial"/>
              </a:rPr>
              <a:t>NPV thay đổi khi từng biến xấu đi 20% (triệu đồng)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2474D26-AA63-4EE1-9781-67929B94D6C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cab9d021304af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A6CCF-4601-4061-ADDB-326A169A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Luật xử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D4400-0D84-456E-A324-9E813C7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3337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7"/>
                </a:solidFill>
                <a:latin typeface="Arial"/>
                <a:ea typeface="Arial"/>
                <a:cs typeface="Arial"/>
              </a:rPr>
              <a:t>NẾU doanh thu bình quân dưới 226.952 đồng trong 2 tháng liên tiếp trên ít nhất 10 khách trả tiền, THÌ dừng acquisition, phỏng vấn lại WTP và thiết kế lại hạn mức.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EE51F-CB96-46E1-A7EC-1A98138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KHÔNG THÌ không giảm giá gói cơ bản để kéo số đăng ký.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6AA70-752F-4A05-BFE1-0D7E822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721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Người theo dõi: Trần Vũ Gia Huy, cập nhật hằng tuần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C5224-DAC9-4587-B987-C8673401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Nguồn: sheet 5 dòng 57–77 và sheet 7 câu 3–5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420ED-1627-45A8-A8F5-3C1E724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8461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2026-10-17T19:08:17.1290000Z</dcterms:created>
  <dcterms:modified xsi:type="dcterms:W3CDTF">2026-10-17T19:08:17.1290000Z</dcterms:modified>
</coreProperties>
</file>